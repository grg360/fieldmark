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0409-F2D9-64EC-28F7-3FD41CEB1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8D5C4-F705-68A9-022D-576EC46EC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0B664-24B8-4606-A0FE-47CC607B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FE85B-ECCC-F47C-D16D-89096B21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8EE41-565F-D616-4A5C-51A32320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5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DD54-58A6-D6AB-60C0-3F3D6E0B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7DE3-D06B-C303-8662-2A2A233C0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7467D-92BA-90E1-2032-DACBB7BA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670A2-5214-0A9F-E7E3-639604990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9FC38-4EB9-0C24-C97C-7C52FDBD9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8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A747-129D-F3E8-4997-9B125905E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E7B22-B5C8-C579-E377-3A1368AD3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3C643-6C94-1736-352B-29640F45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754AB-5641-0CF2-2393-30F0D2D80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EA3B3-D01A-5BB8-3AE7-0D792C4C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69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F578-C0B2-7371-44D8-3199B55C5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26668-B039-48D2-A023-CA30CB446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1540B-13A9-B72F-2635-D40E9EB73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61AA-C000-1FEC-C4AC-EBCB0AD8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8865D-5661-B5EB-7720-8FBAF0F7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E99AB-93D5-3359-B2F7-28349B986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0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B3BA-8AF8-4A48-ACB3-E580EF13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27BC0-E33B-7D3F-6336-669BD51E6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77990-4A2D-0255-A932-9F701520A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15A6B-E745-DE87-B63C-0E5A7C52F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ECF0A-6AEF-2B2C-E34D-C90E7B0BB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361E1-1984-0066-0776-B393C80EB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E11EE7-9D8B-CB0E-9DCA-27A3EB2B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3104A0-D692-36D0-3D9F-B14BF6BB3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466B-DA5F-B349-04F3-2D74B9DA9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1C69A-D2DA-7E86-7E6E-1428D7F6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3A76F-04CC-F4C1-9A4A-DE53E37C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CCF99-BEB7-D5E5-FB9B-C40F11DB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6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8F9F8C-8306-281E-3261-3EC1DDB9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5CC896-03B2-B13B-50DE-01A70A9D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90796-2B73-7A56-18C3-32D817D2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1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8458-8DFF-38E4-9F49-8EA62C1F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F3228-77CA-258E-D586-B92418159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829FE-BC05-1DEA-B179-B30B565DF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CE760-3968-2EB5-E7EA-468BAA26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B99F9-C5BE-673A-2E0D-84823CE0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57C6B-6FD9-5007-CC61-66ED0E73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5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1BCA-3A32-875E-D000-6DE6D6CF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7134B5-C681-6EF2-5A00-883A37BD5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A82A2-999A-4719-3319-D31AE8E30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8645B-5711-65BF-BD16-B2C09414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FD500-7D10-05A5-096C-15C5AEFE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0AB04-41E9-E42C-D87A-703B3062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2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EA709-023A-566C-CC77-75931DE3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7CC1C-BF21-5A34-4B25-0465F71FB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69CB0-29D1-1A58-2177-68A7DA54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455D7-7BD6-736C-E4C0-6384AFD1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40D19-01E8-16C2-50F2-338EAA0C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5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F9DA8-3E1B-5A9D-D2DD-438DF685D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F50D8-8C00-190C-3615-2FBE53E3F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FF6DD-B747-D090-CF6C-9A3F4082D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968B5-5E83-1715-6833-6A17F7E1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03971-5615-55C3-483E-4BD130C9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4E63E-BE8B-B054-CAE5-2175E4C77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07036-0768-0ABC-CE4E-59F2B98C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8711F-47E0-99C2-A1C2-648268C89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0B21F-9875-4BF7-969C-9A7A57CF8E4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C79AD-40A3-B5A8-0F82-63FAC9908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C99B1-57DB-B468-6AB8-5B39C7A3D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FCAF3-CCDC-446E-AF8D-2268C1D3E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8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39D1EE-D6DF-2577-ECAE-C2622294E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846027"/>
              </p:ext>
            </p:extLst>
          </p:nvPr>
        </p:nvGraphicFramePr>
        <p:xfrm>
          <a:off x="587188" y="444006"/>
          <a:ext cx="11017624" cy="5969988"/>
        </p:xfrm>
        <a:graphic>
          <a:graphicData uri="http://schemas.openxmlformats.org/drawingml/2006/table">
            <a:tbl>
              <a:tblPr/>
              <a:tblGrid>
                <a:gridCol w="2754406">
                  <a:extLst>
                    <a:ext uri="{9D8B030D-6E8A-4147-A177-3AD203B41FA5}">
                      <a16:colId xmlns:a16="http://schemas.microsoft.com/office/drawing/2014/main" val="4147037042"/>
                    </a:ext>
                  </a:extLst>
                </a:gridCol>
                <a:gridCol w="2754406">
                  <a:extLst>
                    <a:ext uri="{9D8B030D-6E8A-4147-A177-3AD203B41FA5}">
                      <a16:colId xmlns:a16="http://schemas.microsoft.com/office/drawing/2014/main" val="1561397872"/>
                    </a:ext>
                  </a:extLst>
                </a:gridCol>
                <a:gridCol w="2754406">
                  <a:extLst>
                    <a:ext uri="{9D8B030D-6E8A-4147-A177-3AD203B41FA5}">
                      <a16:colId xmlns:a16="http://schemas.microsoft.com/office/drawing/2014/main" val="2396230734"/>
                    </a:ext>
                  </a:extLst>
                </a:gridCol>
                <a:gridCol w="2754406">
                  <a:extLst>
                    <a:ext uri="{9D8B030D-6E8A-4147-A177-3AD203B41FA5}">
                      <a16:colId xmlns:a16="http://schemas.microsoft.com/office/drawing/2014/main" val="2979027862"/>
                    </a:ext>
                  </a:extLst>
                </a:gridCol>
              </a:tblGrid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Capability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FieldMark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H1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Veeva Link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318502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KOL Discovery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942720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Publication Search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88725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Clinical Trial Participation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646706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Co-author Networks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188685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Institution Mapping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39523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Rising Star Identification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949317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Scientific Influence Scoring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Partial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Partial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844396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Network Influence Scoring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967071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Pharma Engagement Scoring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Partial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Partial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57299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Territory Coverage Analysis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907938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Coverage Gap Detection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88887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Watchlists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630646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Relationship Tracking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860372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Follow-up Management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588428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Meeting Preparation Workflow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Partial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Partial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056810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AI Pre-Meeting Briefs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273385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Scientific Narrative Extraction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632419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Claim-Level Publication Intelligence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483985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Investigator Position Mapping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892441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Evidence-Linked Scientific Positions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848703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Position-Level Search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797602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Research Theme Detection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Partial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Partial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113261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Insight Capture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689991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Field Intelligence Validation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✓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093042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Community Intelligence Layer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Planned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322863"/>
                  </a:ext>
                </a:extLst>
              </a:tr>
              <a:tr h="24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Emerging Signal Detection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Planned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No</a:t>
                      </a:r>
                    </a:p>
                  </a:txBody>
                  <a:tcPr marL="29009" marR="29009" marT="14504" marB="14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844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45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9E896-D886-6E53-5355-2030A99CF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694169"/>
              </p:ext>
            </p:extLst>
          </p:nvPr>
        </p:nvGraphicFramePr>
        <p:xfrm>
          <a:off x="641131" y="904398"/>
          <a:ext cx="12192000" cy="5049204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41520282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141627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7973373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77212693"/>
                    </a:ext>
                  </a:extLst>
                </a:gridCol>
              </a:tblGrid>
              <a:tr h="23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Question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H1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Veeva Link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FieldMark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733620"/>
                  </a:ext>
                </a:extLst>
              </a:tr>
              <a:tr h="23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Who should I engage?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693569"/>
                  </a:ext>
                </a:extLst>
              </a:tr>
              <a:tr h="23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Who influences whom?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350142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What are they publishing?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48142"/>
                  </a:ext>
                </a:extLst>
              </a:tr>
              <a:tr h="23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How important are they?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057317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What do they actually believe?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635810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What scientific positions are they advancing?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552344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How has their scientific narrative evolved?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993208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What should I discuss tomorrow?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Partial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121402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What follow-ups do I owe them?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392676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Where are the gaps in my territory?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745407"/>
                  </a:ext>
                </a:extLst>
              </a:tr>
              <a:tr h="580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What is my engagement strategy for this investigator?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✗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✓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192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12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B3C254-0310-D97C-BFC7-A8144FEDD00B}"/>
              </a:ext>
            </a:extLst>
          </p:cNvPr>
          <p:cNvSpPr txBox="1"/>
          <p:nvPr/>
        </p:nvSpPr>
        <p:spPr>
          <a:xfrm>
            <a:off x="770021" y="67539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Scientific Narrative™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AI-derived scientific positioning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Claim-level publication extraction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Evidence-linked positions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Senior/first-author weighting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Narrative synthesis across publications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Source paper provenance (DOI/PubMed)</a:t>
            </a:r>
          </a:p>
        </p:txBody>
      </p:sp>
    </p:spTree>
    <p:extLst>
      <p:ext uri="{BB962C8B-B14F-4D97-AF65-F5344CB8AC3E}">
        <p14:creationId xmlns:p14="http://schemas.microsoft.com/office/powerpoint/2010/main" val="260636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9956-1390-0032-F95C-91FFFCECE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77337A-B277-9D5F-FDDF-0338EFC3FC0A}"/>
              </a:ext>
            </a:extLst>
          </p:cNvPr>
          <p:cNvGraphicFramePr>
            <a:graphicFrameLocks noGrp="1"/>
          </p:cNvGraphicFramePr>
          <p:nvPr/>
        </p:nvGraphicFramePr>
        <p:xfrm>
          <a:off x="2620974" y="1809878"/>
          <a:ext cx="6950052" cy="4382832"/>
        </p:xfrm>
        <a:graphic>
          <a:graphicData uri="http://schemas.openxmlformats.org/drawingml/2006/table">
            <a:tbl>
              <a:tblPr/>
              <a:tblGrid>
                <a:gridCol w="1737513">
                  <a:extLst>
                    <a:ext uri="{9D8B030D-6E8A-4147-A177-3AD203B41FA5}">
                      <a16:colId xmlns:a16="http://schemas.microsoft.com/office/drawing/2014/main" val="1256755751"/>
                    </a:ext>
                  </a:extLst>
                </a:gridCol>
                <a:gridCol w="1737513">
                  <a:extLst>
                    <a:ext uri="{9D8B030D-6E8A-4147-A177-3AD203B41FA5}">
                      <a16:colId xmlns:a16="http://schemas.microsoft.com/office/drawing/2014/main" val="1483687213"/>
                    </a:ext>
                  </a:extLst>
                </a:gridCol>
                <a:gridCol w="1737513">
                  <a:extLst>
                    <a:ext uri="{9D8B030D-6E8A-4147-A177-3AD203B41FA5}">
                      <a16:colId xmlns:a16="http://schemas.microsoft.com/office/drawing/2014/main" val="548611304"/>
                    </a:ext>
                  </a:extLst>
                </a:gridCol>
                <a:gridCol w="1737513">
                  <a:extLst>
                    <a:ext uri="{9D8B030D-6E8A-4147-A177-3AD203B41FA5}">
                      <a16:colId xmlns:a16="http://schemas.microsoft.com/office/drawing/2014/main" val="4112451197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Capability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FieldMark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H1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Veeva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53579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Claims data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✗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42350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Patient volume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Partial / limited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34725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Referral patterns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✗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818360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Diagnosis / procedure mix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✗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688014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Real-world treatment activity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✗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2752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Site-of-care / affiliation depth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Partial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160781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Enterprise CRM integration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✗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Partial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964261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Compliance workflows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✗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Partial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289347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Mature MSL activity logging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Early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Partial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639097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Field force deployment at scale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✗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Partial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466993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Data refresh / commercial ops infrastructure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Early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dirty="0"/>
                        <a:t>✓✓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9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334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BE56-1FD3-6C50-8226-DAA85E36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0F0E96-9135-5631-33D9-B0B6564E8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128454"/>
              </p:ext>
            </p:extLst>
          </p:nvPr>
        </p:nvGraphicFramePr>
        <p:xfrm>
          <a:off x="2219134" y="1150063"/>
          <a:ext cx="7942917" cy="4882656"/>
        </p:xfrm>
        <a:graphic>
          <a:graphicData uri="http://schemas.openxmlformats.org/drawingml/2006/table">
            <a:tbl>
              <a:tblPr/>
              <a:tblGrid>
                <a:gridCol w="2647639">
                  <a:extLst>
                    <a:ext uri="{9D8B030D-6E8A-4147-A177-3AD203B41FA5}">
                      <a16:colId xmlns:a16="http://schemas.microsoft.com/office/drawing/2014/main" val="3928369160"/>
                    </a:ext>
                  </a:extLst>
                </a:gridCol>
                <a:gridCol w="2647639">
                  <a:extLst>
                    <a:ext uri="{9D8B030D-6E8A-4147-A177-3AD203B41FA5}">
                      <a16:colId xmlns:a16="http://schemas.microsoft.com/office/drawing/2014/main" val="648819403"/>
                    </a:ext>
                  </a:extLst>
                </a:gridCol>
                <a:gridCol w="2647639">
                  <a:extLst>
                    <a:ext uri="{9D8B030D-6E8A-4147-A177-3AD203B41FA5}">
                      <a16:colId xmlns:a16="http://schemas.microsoft.com/office/drawing/2014/main" val="3906358349"/>
                    </a:ext>
                  </a:extLst>
                </a:gridCol>
              </a:tblGrid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Question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H1 / Veeva advantage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FieldMark advantage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223936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Who sees patients?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Claims / RWD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—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16195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Who treats specific diseases?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Claims / diagnosis volume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—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324085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Who is commercially active?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Payments / affiliations / CRM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Partial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666768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Who should I know scientifically?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Strong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Strong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00105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Who is rising scientifically?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Partial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Strong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375771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What do they publish?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Strong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Strong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34405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What are they actually saying scientifically?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Weak / unclear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Strong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47799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What scientific positions do they advance?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Weak / unclear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Strong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78510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How should I prepare for engagement?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Partial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Strong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978629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What follow-ups and relationship context do I manage?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Veeva strong at CRM, FieldMark lighter/faster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Workflow-native for MSL prep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404150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What gaps exist in my territory?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Strong for patient/activity coverage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Strong for scientific/rising-star coverage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226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247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66731-9FB3-2FC7-7AF4-7908E4764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7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</TotalTime>
  <Words>491</Words>
  <Application>Microsoft Office PowerPoint</Application>
  <PresentationFormat>Widescreen</PresentationFormat>
  <Paragraphs>247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Groesbeck</dc:creator>
  <cp:lastModifiedBy>Garrett Groesbeck</cp:lastModifiedBy>
  <cp:revision>1</cp:revision>
  <dcterms:created xsi:type="dcterms:W3CDTF">2026-06-12T17:08:42Z</dcterms:created>
  <dcterms:modified xsi:type="dcterms:W3CDTF">2026-06-14T13:49:45Z</dcterms:modified>
</cp:coreProperties>
</file>